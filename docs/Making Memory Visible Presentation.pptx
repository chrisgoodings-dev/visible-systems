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46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455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792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900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899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548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426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47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724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078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860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4366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hrisgoodings-dev/visible-systems.git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03AA72-B2D6-0EBB-AE46-4A6D5BA18B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909" b="91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D3A094-413D-15E8-470E-EC85133820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3541" y="990599"/>
            <a:ext cx="5619054" cy="4849091"/>
          </a:xfrm>
        </p:spPr>
        <p:txBody>
          <a:bodyPr anchor="ctr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GB" dirty="0">
                <a:solidFill>
                  <a:srgbClr val="FFFFFF"/>
                </a:solidFill>
              </a:rPr>
              <a:t>Making Memory Visible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0D1556-CADD-6B30-BA4D-430AC441E9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12865" y="1447799"/>
            <a:ext cx="2368905" cy="3654553"/>
          </a:xfrm>
        </p:spPr>
        <p:txBody>
          <a:bodyPr anchor="ctr"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Improving Performance Reasoning in C++ Learners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202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3353A-04DB-FB72-F4DF-88B32C8F5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02E70-5C82-BBD3-324A-1D77350B5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Systems programming is perceived as “hard”</a:t>
            </a:r>
          </a:p>
          <a:p>
            <a:pPr lvl="0"/>
            <a:r>
              <a:rPr lang="en-GB" dirty="0"/>
              <a:t>Performance bugs are misunderstood</a:t>
            </a:r>
          </a:p>
          <a:p>
            <a:pPr lvl="0"/>
            <a:r>
              <a:rPr lang="en-GB" dirty="0"/>
              <a:t>Memory behaviour is invisible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1852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D6E0F-6CE0-AB11-7A2F-F50280D80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56F4C-286D-1270-75D1-BB821C30B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Traditional teaching:</a:t>
            </a:r>
          </a:p>
          <a:p>
            <a:pPr lvl="1"/>
            <a:r>
              <a:rPr lang="en-GB" dirty="0"/>
              <a:t>hides memory effects</a:t>
            </a:r>
          </a:p>
          <a:p>
            <a:pPr lvl="1"/>
            <a:r>
              <a:rPr lang="en-GB" dirty="0"/>
              <a:t>relies on abstraction</a:t>
            </a:r>
          </a:p>
          <a:p>
            <a:pPr lvl="1"/>
            <a:r>
              <a:rPr lang="en-GB" dirty="0"/>
              <a:t>delays performance reasoning</a:t>
            </a:r>
          </a:p>
          <a:p>
            <a:r>
              <a:rPr lang="en-GB" dirty="0"/>
              <a:t>Result: fragile mental models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9289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78D75-33BB-3947-7EE2-1AF74D3AD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Idea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F53F1D-304A-CBE8-AB37-EF3D41BA457E}"/>
              </a:ext>
            </a:extLst>
          </p:cNvPr>
          <p:cNvSpPr txBox="1"/>
          <p:nvPr/>
        </p:nvSpPr>
        <p:spPr>
          <a:xfrm>
            <a:off x="2315515" y="1982450"/>
            <a:ext cx="746150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i="1" dirty="0">
                <a:latin typeface="Aharoni" panose="02010803020104030203" pitchFamily="2" charset="-79"/>
                <a:cs typeface="Aharoni" panose="02010803020104030203" pitchFamily="2" charset="-79"/>
              </a:rPr>
              <a:t>Make memory behaviour observable early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9A02F8-EEA1-5A9C-D7DE-4B15253BE0B1}"/>
              </a:ext>
            </a:extLst>
          </p:cNvPr>
          <p:cNvSpPr txBox="1"/>
          <p:nvPr/>
        </p:nvSpPr>
        <p:spPr>
          <a:xfrm>
            <a:off x="4171747" y="4127718"/>
            <a:ext cx="3749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Measure, don’t just explain</a:t>
            </a:r>
          </a:p>
        </p:txBody>
      </p:sp>
    </p:spTree>
    <p:extLst>
      <p:ext uri="{BB962C8B-B14F-4D97-AF65-F5344CB8AC3E}">
        <p14:creationId xmlns:p14="http://schemas.microsoft.com/office/powerpoint/2010/main" val="820668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D696E4-0BE6-9756-1B6C-C69242A95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186" y="909637"/>
            <a:ext cx="4800600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dirty="0"/>
              <a:t>Visible Systems Memory Lab</a:t>
            </a:r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F50232-BC1E-02E0-4C25-494B05A42B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1" r="5946"/>
          <a:stretch>
            <a:fillRect/>
          </a:stretch>
        </p:blipFill>
        <p:spPr>
          <a:xfrm>
            <a:off x="20" y="10"/>
            <a:ext cx="6044164" cy="685799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723900"/>
            <a:ext cx="461007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21C9C-6F57-C684-2669-13DAD7DFC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6186" y="2221992"/>
            <a:ext cx="4800600" cy="3739896"/>
          </a:xfrm>
        </p:spPr>
        <p:txBody>
          <a:bodyPr>
            <a:normAutofit/>
          </a:bodyPr>
          <a:lstStyle/>
          <a:p>
            <a:pPr lvl="0"/>
            <a:r>
              <a:rPr lang="en-GB" dirty="0"/>
              <a:t>Small focused experiments</a:t>
            </a:r>
          </a:p>
          <a:p>
            <a:pPr lvl="0"/>
            <a:r>
              <a:rPr lang="en-GB" dirty="0"/>
              <a:t>Instrumented C++ code</a:t>
            </a:r>
          </a:p>
          <a:p>
            <a:pPr lvl="0"/>
            <a:r>
              <a:rPr lang="en-GB" dirty="0"/>
              <a:t>Reproducible benchmarks</a:t>
            </a:r>
          </a:p>
          <a:p>
            <a:endParaRPr lang="en-GB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6142781"/>
            <a:ext cx="46100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5551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E2E71-3C3C-90F9-2BFE-AFA55015B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Study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2E243-97DB-E660-BF62-E1D23D2E7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Control vs experimental group</a:t>
            </a:r>
          </a:p>
          <a:p>
            <a:pPr lvl="0"/>
            <a:r>
              <a:rPr lang="en-GB" dirty="0"/>
              <a:t>Same tasks, different tools</a:t>
            </a:r>
          </a:p>
          <a:p>
            <a:pPr lvl="0"/>
            <a:r>
              <a:rPr lang="en-GB" dirty="0"/>
              <a:t>Focus on reasoning, not syntax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5821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701DD-F127-74B6-BE6D-6A3188D70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47881-0F56-6B18-D3DF-7B0154E71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Performance prediction</a:t>
            </a:r>
          </a:p>
          <a:p>
            <a:pPr lvl="0"/>
            <a:r>
              <a:rPr lang="en-GB" dirty="0"/>
              <a:t>Code optimization</a:t>
            </a:r>
          </a:p>
          <a:p>
            <a:pPr lvl="0"/>
            <a:r>
              <a:rPr lang="en-GB" dirty="0"/>
              <a:t>Written explanation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977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8A662-CEB8-5116-4ED4-92CDE9E6C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 (Quantitative)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7574E-50A2-2CD8-6090-7F15CC8B7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Prediction accuracy ↑</a:t>
            </a:r>
          </a:p>
          <a:p>
            <a:pPr lvl="0"/>
            <a:r>
              <a:rPr lang="en-GB" dirty="0"/>
              <a:t>Debugging time ↓</a:t>
            </a:r>
          </a:p>
          <a:p>
            <a:pPr lvl="0"/>
            <a:r>
              <a:rPr lang="en-GB" dirty="0"/>
              <a:t>Effect sizes shown clearly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75698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92872-7063-829F-6D54-1D52B9832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 (Qualitative)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BEE3A-7795-09E7-2068-CD7FA1B98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ighlight>
                  <a:srgbClr val="FFFF00"/>
                </a:highlight>
              </a:rPr>
              <a:t>Quotes showing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Mechanistic reasoning</a:t>
            </a:r>
          </a:p>
          <a:p>
            <a:pPr lvl="1"/>
            <a:r>
              <a:rPr lang="en-GB" dirty="0"/>
              <a:t>Cache-aware thinking</a:t>
            </a:r>
          </a:p>
          <a:p>
            <a:pPr lvl="1"/>
            <a:r>
              <a:rPr lang="en-GB" dirty="0"/>
              <a:t>Fewer misconceptions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3341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BA387-7CA3-2BD3-D781-25B55F243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this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F7F7E-8F7C-52F5-0ABF-0FBF662D5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Reduces guesswork</a:t>
            </a:r>
          </a:p>
          <a:p>
            <a:pPr lvl="0"/>
            <a:r>
              <a:rPr lang="en-GB" dirty="0"/>
              <a:t>Aligns mental models with reality</a:t>
            </a:r>
          </a:p>
          <a:p>
            <a:pPr lvl="0"/>
            <a:r>
              <a:rPr lang="en-GB" dirty="0"/>
              <a:t>Encourages scientific thinking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3969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78E5A-D2A5-1A7F-387F-FF1126731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Teaching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9BD45-6D11-6D56-1947-C58843979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Early introduction of performance</a:t>
            </a:r>
          </a:p>
          <a:p>
            <a:pPr lvl="0"/>
            <a:r>
              <a:rPr lang="en-GB" dirty="0"/>
              <a:t>Honest abstractions</a:t>
            </a:r>
          </a:p>
          <a:p>
            <a:pPr lvl="0"/>
            <a:r>
              <a:rPr lang="en-GB" dirty="0"/>
              <a:t>Tool-supported learning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5360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63E99-D71D-5D86-C633-4A25650C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50A50-FD33-03D3-4CD5-4EBAD9FA6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Sample size</a:t>
            </a:r>
          </a:p>
          <a:p>
            <a:pPr lvl="0"/>
            <a:r>
              <a:rPr lang="en-GB" dirty="0"/>
              <a:t>Single institution</a:t>
            </a:r>
          </a:p>
          <a:p>
            <a:pPr lvl="0"/>
            <a:r>
              <a:rPr lang="en-GB" dirty="0"/>
              <a:t>Short-term study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2032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2F60A-B7CC-26B8-F1EE-CFB7FF862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02D58-A833-1C47-2727-BB7FCEA05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Concurrency labs</a:t>
            </a:r>
          </a:p>
          <a:p>
            <a:pPr lvl="0"/>
            <a:r>
              <a:rPr lang="en-GB" dirty="0"/>
              <a:t>Longitudinal studies</a:t>
            </a:r>
          </a:p>
          <a:p>
            <a:pPr lvl="0"/>
            <a:r>
              <a:rPr lang="en-GB" dirty="0"/>
              <a:t>Cross-institution replication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1057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F321C-F0DB-5CB9-5C0C-2EDEF9BBF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Takeaway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6C0833-3A6E-E414-C39C-B358DDDCEACF}"/>
              </a:ext>
            </a:extLst>
          </p:cNvPr>
          <p:cNvSpPr txBox="1"/>
          <p:nvPr/>
        </p:nvSpPr>
        <p:spPr>
          <a:xfrm>
            <a:off x="2404872" y="2789350"/>
            <a:ext cx="647395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i="1" dirty="0">
                <a:latin typeface="Aharoni" panose="02010803020104030203" pitchFamily="2" charset="-79"/>
                <a:cs typeface="Aharoni" panose="02010803020104030203" pitchFamily="2" charset="-79"/>
              </a:rPr>
              <a:t>Systems programming becomes learnable when systems become visible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7349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26C8B-3F93-106F-FF14-AB6B31CA4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86C90-28B9-9809-10A1-CCF7EEAC0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GitHub repo: </a:t>
            </a:r>
            <a:r>
              <a:rPr lang="en-GB" dirty="0">
                <a:hlinkClick r:id="rId2"/>
              </a:rPr>
              <a:t>https://github.com/chrisgoodings-dev/visible-systems.git</a:t>
            </a:r>
            <a:endParaRPr lang="en-GB" dirty="0"/>
          </a:p>
          <a:p>
            <a:pPr lvl="0"/>
            <a:r>
              <a:rPr lang="en-GB" dirty="0"/>
              <a:t>Teaching materials available inside the repo</a:t>
            </a:r>
          </a:p>
          <a:p>
            <a:pPr lvl="0"/>
            <a:r>
              <a:rPr lang="en-GB" dirty="0"/>
              <a:t>Contact info: cgoodingsdev@gmail.com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7509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F22DE-21DB-BAEF-4E29-026737B3A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Research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54EC0-54F9-C181-0E61-5ACC26962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18718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D4F37-EBD6-656D-7E1B-7C7776523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Ethical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17902-D5AA-D72A-207B-2ACD93F7C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This study was conducted in accordance with institutional ethical guidelines for research involving human participants. Participation was voluntary, and informed consent was obtained from all participants prior to data collection.</a:t>
            </a:r>
          </a:p>
          <a:p>
            <a:pPr marL="0" indent="0">
              <a:buNone/>
            </a:pPr>
            <a:r>
              <a:rPr lang="en-GB" dirty="0"/>
              <a:t>No personally identifiable information was collected. All data were anonymized prior to analysis. Participants were informed that they could withdraw from the study at any time without penalty.</a:t>
            </a:r>
          </a:p>
          <a:p>
            <a:pPr marL="0" indent="0">
              <a:buNone/>
            </a:pPr>
            <a:r>
              <a:rPr lang="en-GB" dirty="0"/>
              <a:t>The study posed minimal risk. Tasks were consistent with standard educational activities in computer science courses. No deception was used, and participants were fully debriefed following completion of the study.</a:t>
            </a:r>
          </a:p>
          <a:p>
            <a:pPr marL="0" indent="0">
              <a:buNone/>
            </a:pPr>
            <a:r>
              <a:rPr lang="en-GB" dirty="0"/>
              <a:t>The results reported reflect aggregated data only and cannot be traced to individual participants.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24189327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314</Words>
  <Application>Microsoft Office PowerPoint</Application>
  <PresentationFormat>Widescreen</PresentationFormat>
  <Paragraphs>64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Aharoni</vt:lpstr>
      <vt:lpstr>Arial</vt:lpstr>
      <vt:lpstr>Calisto MT</vt:lpstr>
      <vt:lpstr>Univers Condensed</vt:lpstr>
      <vt:lpstr>ChronicleVTI</vt:lpstr>
      <vt:lpstr>Making Memory Visible</vt:lpstr>
      <vt:lpstr>Motivation</vt:lpstr>
      <vt:lpstr>Problem</vt:lpstr>
      <vt:lpstr>Key Idea</vt:lpstr>
      <vt:lpstr>Visible Systems Memory Lab</vt:lpstr>
      <vt:lpstr>Study Design</vt:lpstr>
      <vt:lpstr>Tasks</vt:lpstr>
      <vt:lpstr>Results (Quantitative) </vt:lpstr>
      <vt:lpstr>Results (Qualitative)</vt:lpstr>
      <vt:lpstr>Why this Works</vt:lpstr>
      <vt:lpstr>Teaching Implications</vt:lpstr>
      <vt:lpstr>Limitations</vt:lpstr>
      <vt:lpstr>Future Work</vt:lpstr>
      <vt:lpstr>Takeaway</vt:lpstr>
      <vt:lpstr>Resources</vt:lpstr>
      <vt:lpstr>Research Links</vt:lpstr>
      <vt:lpstr>Ethical Considerations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Goodings, Chris (Student)</dc:creator>
  <cp:lastModifiedBy>Goodings, Chris (Student)</cp:lastModifiedBy>
  <cp:revision>1</cp:revision>
  <dcterms:created xsi:type="dcterms:W3CDTF">2026-02-07T11:23:56Z</dcterms:created>
  <dcterms:modified xsi:type="dcterms:W3CDTF">2026-02-07T11:42:22Z</dcterms:modified>
</cp:coreProperties>
</file>